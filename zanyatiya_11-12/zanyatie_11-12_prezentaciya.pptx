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Цель: участники добавляют три элемента и проверяют обязательные поля.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Напомните, что страница из занятия 10 уже семантическая. Теперь добавляем к ней новые элементы.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Спросите участников, что услышит программа чтения с экрана, если alt отсутствует.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Типичная ошибка: использовать таблицу для вёрстки. Объясните, почему это плохо для доступности.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Покажите, что клик по тексту подписи переводит фокус в поле.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Важно: проверка в браузере удобна, но её можно обойти. Настоящую проверку делает сервер.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Проверяйте, что участники не забыли закрыть теги. Частая ошибка: форма без label.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Разберите каждую ошибку на экране через F12, вкладка «Элементы».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Цель: участники оформляют страницу и делают её пригодной для телефона.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Сначала покажите страницу без стилей, потом с ними. Эффект работает лучше любых слов.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Если страница не меняется, проверьте имя файла и путь в link.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Объясните разницу margin и padding на примере кнопки: padding внутри фона, margin снаружи.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Покажите, что без border-collapse линии таблицы выглядят двойными.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Попросите участника уменьшить окно вручную и описать, что сломалось без медиазапроса.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Эталон лежит в папке prepodavatel. Не раздавайте его участникам.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Самая частая ошибка — пропущенная точка с запятой или скобка. Покажите её в редакторе.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37744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4400" b="1">
                <a:solidFill>
                  <a:srgbClr val="1F3A5F"/>
                </a:solidFill>
              </a:defRPr>
            </a:pPr>
            <a:r>
              <a:t>Занятие 11. Изображение, таблица, форма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749039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400" b="0">
                <a:solidFill>
                  <a:srgbClr val="444444"/>
                </a:solidFill>
              </a:defRPr>
            </a:pPr>
            <a:r>
              <a:t>Элементы, которые делают страницу полезной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400" b="1">
                <a:solidFill>
                  <a:srgbClr val="1F3A5F"/>
                </a:solidFill>
              </a:defRPr>
            </a:pPr>
            <a:r>
              <a:t>Цель занятия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444444"/>
                </a:solidFill>
              </a:defRPr>
            </a:pPr>
            <a:r>
              <a:t>Добавить изображение с понятным alt.</a:t>
            </a:r>
          </a:p>
          <a:p>
            <a:pPr>
              <a:spcAft>
                <a:spcPts val="1000"/>
              </a:spcAft>
              <a:defRPr sz="2200" b="0">
                <a:solidFill>
                  <a:srgbClr val="444444"/>
                </a:solidFill>
              </a:defRPr>
            </a:pPr>
            <a:r>
              <a:t>Создать таблицу с заголовками thead и строками tbody.</a:t>
            </a:r>
          </a:p>
          <a:p>
            <a:pPr>
              <a:spcAft>
                <a:spcPts val="1000"/>
              </a:spcAft>
              <a:defRPr sz="2200" b="0">
                <a:solidFill>
                  <a:srgbClr val="444444"/>
                </a:solidFill>
              </a:defRPr>
            </a:pPr>
            <a:r>
              <a:t>Собрать форму и проверить обязательные поля браузером.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400" b="1">
                <a:solidFill>
                  <a:srgbClr val="1F3A5F"/>
                </a:solidFill>
              </a:defRPr>
            </a:pPr>
            <a:r>
              <a:t>Изображение и alt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444444"/>
                </a:solidFill>
              </a:defRPr>
            </a:pPr>
            <a:r>
              <a:t>&lt;img src="images/lock.svg" alt="Значок замка"&gt;</a:t>
            </a:r>
          </a:p>
          <a:p>
            <a:pPr>
              <a:spcAft>
                <a:spcPts val="1000"/>
              </a:spcAft>
              <a:defRPr sz="2200" b="0">
                <a:solidFill>
                  <a:srgbClr val="444444"/>
                </a:solidFill>
              </a:defRPr>
            </a:pPr>
            <a:r>
              <a:t>src — путь к файлу относительно страницы.</a:t>
            </a:r>
          </a:p>
          <a:p>
            <a:pPr>
              <a:spcAft>
                <a:spcPts val="1000"/>
              </a:spcAft>
              <a:defRPr sz="2200" b="0">
                <a:solidFill>
                  <a:srgbClr val="444444"/>
                </a:solidFill>
              </a:defRPr>
            </a:pPr>
            <a:r>
              <a:t>alt — текст для тех, кто не видит картинку, и текст при сбое загрузки.</a:t>
            </a:r>
          </a:p>
          <a:p>
            <a:pPr>
              <a:spcAft>
                <a:spcPts val="1000"/>
              </a:spcAft>
              <a:defRPr sz="2200" b="0">
                <a:solidFill>
                  <a:srgbClr val="444444"/>
                </a:solidFill>
              </a:defRPr>
            </a:pPr>
            <a:r>
              <a:t>Если картинка декоративная, alt остаётся пустым: alt="".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400" b="1">
                <a:solidFill>
                  <a:srgbClr val="1F3A5F"/>
                </a:solidFill>
              </a:defRPr>
            </a:pPr>
            <a:r>
              <a:t>Таблица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444444"/>
                </a:solidFill>
              </a:defRPr>
            </a:pPr>
            <a:r>
              <a:t>&lt;table&gt; — сама таблица; &lt;caption&gt; — подпись.</a:t>
            </a:r>
          </a:p>
          <a:p>
            <a:pPr>
              <a:spcAft>
                <a:spcPts val="1000"/>
              </a:spcAft>
              <a:defRPr sz="2200" b="0">
                <a:solidFill>
                  <a:srgbClr val="444444"/>
                </a:solidFill>
              </a:defRPr>
            </a:pPr>
            <a:r>
              <a:t>&lt;thead&gt; — заголовок, &lt;tbody&gt; — строки данных.</a:t>
            </a:r>
          </a:p>
          <a:p>
            <a:pPr>
              <a:spcAft>
                <a:spcPts val="1000"/>
              </a:spcAft>
              <a:defRPr sz="2200" b="0">
                <a:solidFill>
                  <a:srgbClr val="444444"/>
                </a:solidFill>
              </a:defRPr>
            </a:pPr>
            <a:r>
              <a:t>&lt;th&gt; — ячейка заголовка, &lt;td&gt; — обычная ячейка.</a:t>
            </a:r>
          </a:p>
          <a:p>
            <a:pPr>
              <a:spcAft>
                <a:spcPts val="1000"/>
              </a:spcAft>
              <a:defRPr sz="2200" b="0">
                <a:solidFill>
                  <a:srgbClr val="444444"/>
                </a:solidFill>
              </a:defRPr>
            </a:pPr>
            <a:r>
              <a:t>Таблица нужна для данных, а не для расположения блоков на странице.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400" b="1">
                <a:solidFill>
                  <a:srgbClr val="1F3A5F"/>
                </a:solidFill>
              </a:defRPr>
            </a:pPr>
            <a:r>
              <a:t>Форма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444444"/>
                </a:solidFill>
              </a:defRPr>
            </a:pPr>
            <a:r>
              <a:t>&lt;form&gt; объединяет поля и кнопку отправки.</a:t>
            </a:r>
          </a:p>
          <a:p>
            <a:pPr>
              <a:spcAft>
                <a:spcPts val="1000"/>
              </a:spcAft>
              <a:defRPr sz="2200" b="0">
                <a:solidFill>
                  <a:srgbClr val="444444"/>
                </a:solidFill>
              </a:defRPr>
            </a:pPr>
            <a:r>
              <a:t>&lt;label&gt; связан с полем: текст подписи нажимается вместе с полем.</a:t>
            </a:r>
          </a:p>
          <a:p>
            <a:pPr>
              <a:spcAft>
                <a:spcPts val="1000"/>
              </a:spcAft>
              <a:defRPr sz="2200" b="0">
                <a:solidFill>
                  <a:srgbClr val="444444"/>
                </a:solidFill>
              </a:defRPr>
            </a:pPr>
            <a:r>
              <a:t>&lt;input type="email"&gt; проверяет формат адреса.</a:t>
            </a:r>
          </a:p>
          <a:p>
            <a:pPr>
              <a:spcAft>
                <a:spcPts val="1000"/>
              </a:spcAft>
              <a:defRPr sz="2200" b="0">
                <a:solidFill>
                  <a:srgbClr val="444444"/>
                </a:solidFill>
              </a:defRPr>
            </a:pPr>
            <a:r>
              <a:t>&lt;select&gt; — выпадающий список, &lt;textarea&gt; — многострочный текст.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400" b="1">
                <a:solidFill>
                  <a:srgbClr val="1F3A5F"/>
                </a:solidFill>
              </a:defRPr>
            </a:pPr>
            <a:r>
              <a:t>Обязательные поля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444444"/>
                </a:solidFill>
              </a:defRPr>
            </a:pPr>
            <a:r>
              <a:t>Атрибут required запрещает отправку пустого поля.</a:t>
            </a:r>
          </a:p>
          <a:p>
            <a:pPr>
              <a:spcAft>
                <a:spcPts val="1000"/>
              </a:spcAft>
              <a:defRPr sz="2200" b="0">
                <a:solidFill>
                  <a:srgbClr val="444444"/>
                </a:solidFill>
              </a:defRPr>
            </a:pPr>
            <a:r>
              <a:t>Браузер сам показывает подсказку у поля.</a:t>
            </a:r>
          </a:p>
          <a:p>
            <a:pPr>
              <a:spcAft>
                <a:spcPts val="1000"/>
              </a:spcAft>
              <a:defRPr sz="2200" b="0">
                <a:solidFill>
                  <a:srgbClr val="444444"/>
                </a:solidFill>
              </a:defRPr>
            </a:pPr>
            <a:r>
              <a:t>type="email" требует символ @ и домен.</a:t>
            </a:r>
          </a:p>
          <a:p>
            <a:pPr>
              <a:spcAft>
                <a:spcPts val="1000"/>
              </a:spcAft>
              <a:defRPr sz="2200" b="0">
                <a:solidFill>
                  <a:srgbClr val="444444"/>
                </a:solidFill>
              </a:defRPr>
            </a:pPr>
            <a:r>
              <a:t>Проверка браузера не заменяет проверку на сервере.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400" b="1">
                <a:solidFill>
                  <a:srgbClr val="1F3A5F"/>
                </a:solidFill>
              </a:defRPr>
            </a:pPr>
            <a:r>
              <a:t>Практика 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444444"/>
                </a:solidFill>
              </a:defRPr>
            </a:pPr>
            <a:r>
              <a:t>1. Откройте zanyatie11/start.html в VS Code.</a:t>
            </a:r>
          </a:p>
          <a:p>
            <a:pPr>
              <a:spcAft>
                <a:spcPts val="1000"/>
              </a:spcAft>
              <a:defRPr sz="2000" b="0">
                <a:solidFill>
                  <a:srgbClr val="444444"/>
                </a:solidFill>
              </a:defRPr>
            </a:pPr>
            <a:r>
              <a:t>2. Добавьте изображение с alt.</a:t>
            </a:r>
          </a:p>
          <a:p>
            <a:pPr>
              <a:spcAft>
                <a:spcPts val="1000"/>
              </a:spcAft>
              <a:defRPr sz="2000" b="0">
                <a:solidFill>
                  <a:srgbClr val="444444"/>
                </a:solidFill>
              </a:defRPr>
            </a:pPr>
            <a:r>
              <a:t>3. Добавьте таблицу с thead и tbody.</a:t>
            </a:r>
          </a:p>
          <a:p>
            <a:pPr>
              <a:spcAft>
                <a:spcPts val="1000"/>
              </a:spcAft>
              <a:defRPr sz="2000" b="0">
                <a:solidFill>
                  <a:srgbClr val="444444"/>
                </a:solidFill>
              </a:defRPr>
            </a:pPr>
            <a:r>
              <a:t>4. Добавьте форму с полями имя, email, тема и сообщение.</a:t>
            </a:r>
          </a:p>
          <a:p>
            <a:pPr>
              <a:spcAft>
                <a:spcPts val="1000"/>
              </a:spcAft>
              <a:defRPr sz="2000" b="0">
                <a:solidFill>
                  <a:srgbClr val="444444"/>
                </a:solidFill>
              </a:defRPr>
            </a:pPr>
            <a:r>
              <a:t>5. Отправьте пустую форму и форму с адресом без @.</a:t>
            </a:r>
          </a:p>
          <a:p>
            <a:pPr>
              <a:spcAft>
                <a:spcPts val="1000"/>
              </a:spcAft>
              <a:defRPr sz="2000" b="0">
                <a:solidFill>
                  <a:srgbClr val="444444"/>
                </a:solidFill>
              </a:defRPr>
            </a:pPr>
            <a:r>
              <a:t>Результат: страница с тремя элементами и вывод о required.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400" b="1">
                <a:solidFill>
                  <a:srgbClr val="1F3A5F"/>
                </a:solidFill>
              </a:defRPr>
            </a:pPr>
            <a:r>
              <a:t>Типичные ошибки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444444"/>
                </a:solidFill>
              </a:defRPr>
            </a:pPr>
            <a:r>
              <a:t>Картинка не видна: проверьте путь images/lock.svg.</a:t>
            </a:r>
          </a:p>
          <a:p>
            <a:pPr>
              <a:spcAft>
                <a:spcPts val="1000"/>
              </a:spcAft>
              <a:defRPr sz="2000" b="0">
                <a:solidFill>
                  <a:srgbClr val="444444"/>
                </a:solidFill>
              </a:defRPr>
            </a:pPr>
            <a:r>
              <a:t>Форма отправляется пустой: удалён required или стоит неправильный тип.</a:t>
            </a:r>
          </a:p>
          <a:p>
            <a:pPr>
              <a:spcAft>
                <a:spcPts val="1000"/>
              </a:spcAft>
              <a:defRPr sz="2000" b="0">
                <a:solidFill>
                  <a:srgbClr val="444444"/>
                </a:solidFill>
              </a:defRPr>
            </a:pPr>
            <a:r>
              <a:t>Таблица съехала: лишний тег tr или td вне строки.</a:t>
            </a:r>
          </a:p>
          <a:p>
            <a:pPr>
              <a:spcAft>
                <a:spcPts val="1000"/>
              </a:spcAft>
              <a:defRPr sz="2000" b="0">
                <a:solidFill>
                  <a:srgbClr val="444444"/>
                </a:solidFill>
              </a:defRPr>
            </a:pPr>
            <a:r>
              <a:t>Поле не реагирует на клик по подписи: label не обернул поле или не указан for.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37744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4400" b="1">
                <a:solidFill>
                  <a:srgbClr val="1F3A5F"/>
                </a:solidFill>
              </a:defRPr>
            </a:pPr>
            <a:r>
              <a:t>Занятие 12. CSS и адаптивность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749039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400" b="0">
                <a:solidFill>
                  <a:srgbClr val="444444"/>
                </a:solidFill>
              </a:defRPr>
            </a:pPr>
            <a:r>
              <a:t>Оформление страницы и поведение на узком экране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400" b="1">
                <a:solidFill>
                  <a:srgbClr val="1F3A5F"/>
                </a:solidFill>
              </a:defRPr>
            </a:pPr>
            <a:r>
              <a:t>Цель занятия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444444"/>
                </a:solidFill>
              </a:defRPr>
            </a:pPr>
            <a:r>
              <a:t>Подключить внешний файл стилей style.css.</a:t>
            </a:r>
          </a:p>
          <a:p>
            <a:pPr>
              <a:spcAft>
                <a:spcPts val="1000"/>
              </a:spcAft>
              <a:defRPr sz="2200" b="0">
                <a:solidFill>
                  <a:srgbClr val="444444"/>
                </a:solidFill>
              </a:defRPr>
            </a:pPr>
            <a:r>
              <a:t>Задать шрифт, цвета, отступы и ограничение ширины.</a:t>
            </a:r>
          </a:p>
          <a:p>
            <a:pPr>
              <a:spcAft>
                <a:spcPts val="1000"/>
              </a:spcAft>
              <a:defRPr sz="2200" b="0">
                <a:solidFill>
                  <a:srgbClr val="444444"/>
                </a:solidFill>
              </a:defRPr>
            </a:pPr>
            <a:r>
              <a:t>Сделать страницу читаемой при ширине 600 пикселей.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400" b="1">
                <a:solidFill>
                  <a:srgbClr val="1F3A5F"/>
                </a:solidFill>
              </a:defRPr>
            </a:pPr>
            <a:r>
              <a:t>Подключение CSS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444444"/>
                </a:solidFill>
              </a:defRPr>
            </a:pPr>
            <a:r>
              <a:t>В head: &lt;link rel="stylesheet" href="style.css"&gt;</a:t>
            </a:r>
          </a:p>
          <a:p>
            <a:pPr>
              <a:spcAft>
                <a:spcPts val="1000"/>
              </a:spcAft>
              <a:defRPr sz="2200" b="0">
                <a:solidFill>
                  <a:srgbClr val="444444"/>
                </a:solidFill>
              </a:defRPr>
            </a:pPr>
            <a:r>
              <a:t>Селектор: какой элемент стилизуем, например h1 или .card.</a:t>
            </a:r>
          </a:p>
          <a:p>
            <a:pPr>
              <a:spcAft>
                <a:spcPts val="1000"/>
              </a:spcAft>
              <a:defRPr sz="2200" b="0">
                <a:solidFill>
                  <a:srgbClr val="444444"/>
                </a:solidFill>
              </a:defRPr>
            </a:pPr>
            <a:r>
              <a:t>Свойство и значение: color: #1f3a5f;</a:t>
            </a:r>
          </a:p>
          <a:p>
            <a:pPr>
              <a:spcAft>
                <a:spcPts val="1000"/>
              </a:spcAft>
              <a:defRPr sz="2200" b="0">
                <a:solidFill>
                  <a:srgbClr val="444444"/>
                </a:solidFill>
              </a:defRPr>
            </a:pPr>
            <a:r>
              <a:t>Сохраните style.css и обновите страницу F5.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400" b="1">
                <a:solidFill>
                  <a:srgbClr val="1F3A5F"/>
                </a:solidFill>
              </a:defRPr>
            </a:pPr>
            <a:r>
              <a:t>Цвета, шрифты, отступы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444444"/>
                </a:solidFill>
              </a:defRPr>
            </a:pPr>
            <a:r>
              <a:t>color — цвет текста; background — фон.</a:t>
            </a:r>
          </a:p>
          <a:p>
            <a:pPr>
              <a:spcAft>
                <a:spcPts val="1000"/>
              </a:spcAft>
              <a:defRPr sz="2200" b="0">
                <a:solidFill>
                  <a:srgbClr val="444444"/>
                </a:solidFill>
              </a:defRPr>
            </a:pPr>
            <a:r>
              <a:t>font-family — шрифт; font-size — размер.</a:t>
            </a:r>
          </a:p>
          <a:p>
            <a:pPr>
              <a:spcAft>
                <a:spcPts val="1000"/>
              </a:spcAft>
              <a:defRPr sz="2200" b="0">
                <a:solidFill>
                  <a:srgbClr val="444444"/>
                </a:solidFill>
              </a:defRPr>
            </a:pPr>
            <a:r>
              <a:t>margin — внешний отступ, padding — внутренний.</a:t>
            </a:r>
          </a:p>
          <a:p>
            <a:pPr>
              <a:spcAft>
                <a:spcPts val="1000"/>
              </a:spcAft>
              <a:defRPr sz="2200" b="0">
                <a:solidFill>
                  <a:srgbClr val="444444"/>
                </a:solidFill>
              </a:defRPr>
            </a:pPr>
            <a:r>
              <a:t>max-width ограничивает ширину, margin: 0 auto центрирует блок.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400" b="1">
                <a:solidFill>
                  <a:srgbClr val="1F3A5F"/>
                </a:solidFill>
              </a:defRPr>
            </a:pPr>
            <a:r>
              <a:t>Таблица и кнопка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444444"/>
                </a:solidFill>
              </a:defRPr>
            </a:pPr>
            <a:r>
              <a:t>border-collapse: collapse убирает двойные границы.</a:t>
            </a:r>
          </a:p>
          <a:p>
            <a:pPr>
              <a:spcAft>
                <a:spcPts val="1000"/>
              </a:spcAft>
              <a:defRPr sz="2200" b="0">
                <a:solidFill>
                  <a:srgbClr val="444444"/>
                </a:solidFill>
              </a:defRPr>
            </a:pPr>
            <a:r>
              <a:t>th и td получают border и padding.</a:t>
            </a:r>
          </a:p>
          <a:p>
            <a:pPr>
              <a:spcAft>
                <a:spcPts val="1000"/>
              </a:spcAft>
              <a:defRPr sz="2200" b="0">
                <a:solidFill>
                  <a:srgbClr val="444444"/>
                </a:solidFill>
              </a:defRPr>
            </a:pPr>
            <a:r>
              <a:t>Кнопка: background, color и padding задают её вид.</a:t>
            </a:r>
          </a:p>
          <a:p>
            <a:pPr>
              <a:spcAft>
                <a:spcPts val="1000"/>
              </a:spcAft>
              <a:defRPr sz="2200" b="0">
                <a:solidFill>
                  <a:srgbClr val="444444"/>
                </a:solidFill>
              </a:defRPr>
            </a:pPr>
            <a:r>
              <a:t>Цвет фона у кнопки должен контрастировать с текстом.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400" b="1">
                <a:solidFill>
                  <a:srgbClr val="1F3A5F"/>
                </a:solidFill>
              </a:defRPr>
            </a:pPr>
            <a:r>
              <a:t>Адаптивность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444444"/>
                </a:solidFill>
              </a:defRPr>
            </a:pPr>
            <a:r>
              <a:t>@media (max-width: 600px) { ... } — правило для узкого экрана.</a:t>
            </a:r>
          </a:p>
          <a:p>
            <a:pPr>
              <a:spcAft>
                <a:spcPts val="1000"/>
              </a:spcAft>
              <a:defRPr sz="2200" b="0">
                <a:solidFill>
                  <a:srgbClr val="444444"/>
                </a:solidFill>
              </a:defRPr>
            </a:pPr>
            <a:r>
              <a:t>Режим адаптивного просмотра: F12, значок телефона, Ctrl+Shift+M.</a:t>
            </a:r>
          </a:p>
          <a:p>
            <a:pPr>
              <a:spcAft>
                <a:spcPts val="1000"/>
              </a:spcAft>
              <a:defRPr sz="2200" b="0">
                <a:solidFill>
                  <a:srgbClr val="444444"/>
                </a:solidFill>
              </a:defRPr>
            </a:pPr>
            <a:r>
              <a:t>Ширина 600 пикселей — типичный порог для телефона.</a:t>
            </a:r>
          </a:p>
          <a:p>
            <a:pPr>
              <a:spcAft>
                <a:spcPts val="1000"/>
              </a:spcAft>
              <a:defRPr sz="2200" b="0">
                <a:solidFill>
                  <a:srgbClr val="444444"/>
                </a:solidFill>
              </a:defRPr>
            </a:pPr>
            <a:r>
              <a:t>Сравните страницу до и после медиазапроса.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400" b="1">
                <a:solidFill>
                  <a:srgbClr val="1F3A5F"/>
                </a:solidFill>
              </a:defRPr>
            </a:pPr>
            <a:r>
              <a:t>Практика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444444"/>
                </a:solidFill>
              </a:defRPr>
            </a:pPr>
            <a:r>
              <a:t>1. Откройте zanyatie12/start.html и заполните style.css.</a:t>
            </a:r>
          </a:p>
          <a:p>
            <a:pPr>
              <a:spcAft>
                <a:spcPts val="1000"/>
              </a:spcAft>
              <a:defRPr sz="2000" b="0">
                <a:solidFill>
                  <a:srgbClr val="444444"/>
                </a:solidFill>
              </a:defRPr>
            </a:pPr>
            <a:r>
              <a:t>2. Задайте шрифт, фон, цвет заголовка и ограничение ширины main.</a:t>
            </a:r>
          </a:p>
          <a:p>
            <a:pPr>
              <a:spcAft>
                <a:spcPts val="1000"/>
              </a:spcAft>
              <a:defRPr sz="2000" b="0">
                <a:solidFill>
                  <a:srgbClr val="444444"/>
                </a:solidFill>
              </a:defRPr>
            </a:pPr>
            <a:r>
              <a:t>3. Оформите таблицу и кнопку.</a:t>
            </a:r>
          </a:p>
          <a:p>
            <a:pPr>
              <a:spcAft>
                <a:spcPts val="1000"/>
              </a:spcAft>
              <a:defRPr sz="2000" b="0">
                <a:solidFill>
                  <a:srgbClr val="444444"/>
                </a:solidFill>
              </a:defRPr>
            </a:pPr>
            <a:r>
              <a:t>4. Добавьте медиазапрос для 600 пикселей.</a:t>
            </a:r>
          </a:p>
          <a:p>
            <a:pPr>
              <a:spcAft>
                <a:spcPts val="1000"/>
              </a:spcAft>
              <a:defRPr sz="2000" b="0">
                <a:solidFill>
                  <a:srgbClr val="444444"/>
                </a:solidFill>
              </a:defRPr>
            </a:pPr>
            <a:r>
              <a:t>5. Проверьте в режиме адаптивного просмотра и запишите ответ на вопрос о max-width.</a:t>
            </a:r>
          </a:p>
          <a:p>
            <a:pPr>
              <a:spcAft>
                <a:spcPts val="1000"/>
              </a:spcAft>
              <a:defRPr sz="2000" b="0">
                <a:solidFill>
                  <a:srgbClr val="444444"/>
                </a:solidFill>
              </a:defRPr>
            </a:pPr>
            <a:r>
              <a:t>Результат: оформленная адаптивная страница.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400" b="1">
                <a:solidFill>
                  <a:srgbClr val="1F3A5F"/>
                </a:solidFill>
              </a:defRPr>
            </a:pPr>
            <a:r>
              <a:t>Типичные ошибки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444444"/>
                </a:solidFill>
              </a:defRPr>
            </a:pPr>
            <a:r>
              <a:t>Стили не применяются: проверьте имя файла и путь в link.</a:t>
            </a:r>
          </a:p>
          <a:p>
            <a:pPr>
              <a:spcAft>
                <a:spcPts val="1000"/>
              </a:spcAft>
              <a:defRPr sz="2000" b="0">
                <a:solidFill>
                  <a:srgbClr val="444444"/>
                </a:solidFill>
              </a:defRPr>
            </a:pPr>
            <a:r>
              <a:t>Одно правило не работает: проверьте точку с запятой и закрывающую фигурную скобку.</a:t>
            </a:r>
          </a:p>
          <a:p>
            <a:pPr>
              <a:spcAft>
                <a:spcPts val="1000"/>
              </a:spcAft>
              <a:defRPr sz="2000" b="0">
                <a:solidFill>
                  <a:srgbClr val="444444"/>
                </a:solidFill>
              </a:defRPr>
            </a:pPr>
            <a:r>
              <a:t>Страница выходит за экран: элемент шире окна, добавьте max-width или 100%.</a:t>
            </a:r>
          </a:p>
          <a:p>
            <a:pPr>
              <a:spcAft>
                <a:spcPts val="1000"/>
              </a:spcAft>
              <a:defRPr sz="2000" b="0">
                <a:solidFill>
                  <a:srgbClr val="444444"/>
                </a:solidFill>
              </a:defRPr>
            </a:pPr>
            <a:r>
              <a:t>Текст сливается с фоном: проверьте контраст цветов.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